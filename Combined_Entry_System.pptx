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0"/>
            <a:ext cx="9144000" cy="381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00"/>
                </a:solidFill>
              </a:defRPr>
            </a:pPr>
            <a:r>
              <a:t>COMBINED ENTRY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Degi  +  Fractal  +  TBM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754880"/>
            <a:ext cx="9144000" cy="381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</a:defRPr>
            </a:pPr>
            <a:r>
              <a:t>3 арга барилыг нэгтгэсэн нарийн entry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6217920"/>
            <a:ext cx="22860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6446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DEGI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812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Яагаад?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6217920"/>
            <a:ext cx="22860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89981"/>
                </a:solidFill>
              </a:defRPr>
            </a:pPr>
            <a:r>
              <a:t>FRACTAL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812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Хаана?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6217920"/>
            <a:ext cx="228600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</a:defRPr>
            </a:pPr>
            <a:r>
              <a:t>TBM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812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t>Хэзээ?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5895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by Battugs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</a:defRPr>
            </a:pPr>
            <a:r>
              <a:t>СИСТЕМИЙН БҮТЭЦ — 3 ДАВХАР ШҮҮЛТҮҮР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5486400" cy="254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316736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ДАВХАР 1: DEGI — ЯАГААД?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HTF (1H, 4H) дээр чиглэл тодорхойлох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Liquidity sweep + IDM хамалт хүлээх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Choch / BOS баталгаажуулах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Entry Grade: A.1 (хамгийн сайн) → A → Potential A.1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Гол зорилго: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"Том цаг юу хэлж байна?"</a:t>
            </a:r>
          </a:p>
          <a:p>
            <a:pPr>
              <a:spcBef>
                <a:spcPts val="600"/>
              </a:spcBef>
              <a:defRPr sz="1500" b="0">
                <a:solidFill>
                  <a:srgbClr val="AAAAAA"/>
                </a:solidFill>
              </a:defRPr>
            </a:pPr>
            <a:r>
              <a:t>Трэндийн чиглэл + liquidity байршил</a:t>
            </a:r>
          </a:p>
          <a:p>
            <a:pPr>
              <a:spcBef>
                <a:spcPts val="600"/>
              </a:spcBef>
              <a:defRPr sz="1500" b="0">
                <a:solidFill>
                  <a:srgbClr val="AAAAAA"/>
                </a:solidFill>
              </a:defRPr>
            </a:pPr>
            <a:r>
              <a:t>= Арилжааны ЧИГ тодорхойлно</a:t>
            </a:r>
          </a:p>
        </p:txBody>
      </p:sp>
      <p:sp>
        <p:nvSpPr>
          <p:cNvPr id="8" name="Down Arrow 7"/>
          <p:cNvSpPr/>
          <p:nvPr/>
        </p:nvSpPr>
        <p:spPr>
          <a:xfrm>
            <a:off x="7040880" y="3337560"/>
            <a:ext cx="457200" cy="36576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316736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77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9981"/>
                </a:solidFill>
              </a:defRPr>
            </a:pPr>
            <a:r>
              <a:t>ДАВХАР 2: FRACTAL — ХААНА?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Бүс тодорхойлох (ranging zone)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Шилжүүлэгч хөдөлгөөн таних (displacement)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PB загвар (1р, 2р, 3р) аль нь явж байгааг таних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Fibo 0-1-2 татаж бүтэц тодорхойлох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2976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981"/>
                </a:solidFill>
              </a:defRPr>
            </a:pPr>
            <a:r>
              <a:t>Гол зорилго: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"Бүтэц юу харуулж байна?"</a:t>
            </a:r>
          </a:p>
          <a:p>
            <a:pPr>
              <a:spcBef>
                <a:spcPts val="600"/>
              </a:spcBef>
              <a:defRPr sz="1500" b="0">
                <a:solidFill>
                  <a:srgbClr val="AAAAAA"/>
                </a:solidFill>
              </a:defRPr>
            </a:pPr>
            <a:r>
              <a:t>Шилжүүлэгч + PB загвар = ямар бүтэц</a:t>
            </a:r>
          </a:p>
          <a:p>
            <a:pPr>
              <a:spcBef>
                <a:spcPts val="600"/>
              </a:spcBef>
              <a:defRPr sz="1500" b="0">
                <a:solidFill>
                  <a:srgbClr val="AAAAAA"/>
                </a:solidFill>
              </a:defRPr>
            </a:pPr>
            <a:r>
              <a:t>= Арилжааны БҮСИЙГ тодорхойлно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040880" y="5715000"/>
            <a:ext cx="457200" cy="365760"/>
          </a:xfrm>
          <a:prstGeom prst="downArrow">
            <a:avLst/>
          </a:prstGeom>
          <a:solidFill>
            <a:srgbClr val="089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6217920"/>
            <a:ext cx="13167360" cy="1645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355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ДАВХАР 3: TBM — ХЭЗЭЭ?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8122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Өмнөх хөдөлгөөнөөс MOM олох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Fibo-н 61.8 = Entry Zone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Уялдаа (confluence) шалгах → ★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83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Гол зорилго: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"Яг хэзээ, яг хаана орох вэ?"</a:t>
            </a:r>
          </a:p>
          <a:p>
            <a:pPr>
              <a:spcBef>
                <a:spcPts val="600"/>
              </a:spcBef>
              <a:defRPr sz="1500" b="0">
                <a:solidFill>
                  <a:srgbClr val="AAAAAA"/>
                </a:solidFill>
              </a:defRPr>
            </a:pPr>
            <a:r>
              <a:t>MOM → 61.8 → Entry = НАРИЙН ЦЭГ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ДАВХАР 1: DEGI — HTF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6217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HTF ШИНЖИЛГЭЭ (1H, 4H, Daily)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Баталгаажсан candlestick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Өмнөх лааны high/low-г эвдсэн, чиглэл баталгаажсан лаа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Impulse таних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Баталгаажсан candle нэг чиглэлд нэгнээс нэг чиглэлд эвдэж явна = impulse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Pullback хүлээх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Impulse-н эсрэг чиглэлийн хөдөлгөөн = pullback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IDM (Inducement) 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Pullback нь өмнөх лааны high/low-г хамах = liquidity хамалт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94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94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Orderflow баталгаа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7149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Sweep хийсний дараа LTF дээр choch/BOS гарах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1721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6172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Entry!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6492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</a:defRPr>
            </a:pPr>
            <a:r>
              <a:t>LTF orderflow баталгаажсан → арилжаанд ор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463040"/>
            <a:ext cx="640080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ENTRY GRADES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9981"/>
                </a:solidFill>
              </a:defRPr>
            </a:pPr>
            <a:r>
              <a:t>Grade A.1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(Хамгийн сайн)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560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Sweep + HTF finalize + LTF CHOCH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49BFF"/>
                </a:solidFill>
              </a:defRPr>
            </a:pPr>
            <a:r>
              <a:t>Grade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(Сайн)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Sweep + HTF alignment + LTF CHOCH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</a:defRPr>
            </a:pPr>
            <a:r>
              <a:t>Potential A.1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(Болзошгүй)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Sweep + LTF CHOCH, HTF finalize байхгүй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4754880"/>
            <a:ext cx="640080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ЧУХАЛ ДҮРМҮҮД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406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 Том цагийн баталгаа = 15min дээр Fractal шилжүүлэгч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58064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 Balance бүс = жижиг цагийн orderflow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61722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 Liquidity авсан бол зайлшгүй эсрэг хөдөлгөөн орно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6537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 Wick хийсэн = liquidity хамалт, биеэр эвдсэн = orderflow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6903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 Trend is your friend — зөвхөн трэнд дагаж арилжаал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89981"/>
                </a:solidFill>
              </a:defRPr>
            </a:pPr>
            <a:r>
              <a:t>ДАВХАР 2: FRACTAL — ШИЛЖҮҮЛЭГЧИЙН 3 ЗАГВАР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6400800" cy="25400"/>
          </a:xfrm>
          <a:prstGeom prst="roundRect">
            <a:avLst/>
          </a:prstGeom>
          <a:solidFill>
            <a:srgbClr val="089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Бүс → Шилжүүлэгч → PB Загвар → Entry  |  Шилжүүлэгч бүрийн дараа PB 3 загварын аль нэгээр явна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4389120" cy="5760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89981"/>
                </a:solidFill>
              </a:defRPr>
            </a:pPr>
            <a:r>
              <a:t>1р ЗАГВАР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Ranging → Displacement → Pullback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Бүтэц: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1. Бүс (ranging zone) үүснэ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2. Том лаа бүсийг эвдэнэ (шилжүүлэгч)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3. Шууд pullback орно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4. Pullback дотор ranging бүс үүснэ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5. Дотоод бүсээс эсрэг displacement</a:t>
            </a:r>
          </a:p>
          <a:p>
            <a:pPr>
              <a:spcBef>
                <a:spcPts val="600"/>
              </a:spcBef>
              <a:defRPr sz="1400" b="1">
                <a:solidFill>
                  <a:srgbClr val="089981"/>
                </a:solidFill>
              </a:defRPr>
            </a:pPr>
            <a:r>
              <a:t>6. Entry!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D700"/>
                </a:solidFill>
              </a:defRPr>
            </a:pPr>
            <a:r>
              <a:t>Онцлог: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PB дотроо бүс → шилжүүлэгч давтана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= Fractal-ийн Fractal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888888"/>
                </a:solidFill>
              </a:defRPr>
            </a:pPr>
            <a:r>
              <a:t>candle-butesh2.png дээрх зураг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920240"/>
            <a:ext cx="4389120" cy="5760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54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49BFF"/>
                </a:solidFill>
              </a:defRPr>
            </a:pPr>
            <a:r>
              <a:t>2р ЗАГВАР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Simple Pullback (1-3 давалгаа)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1089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Бүтэц: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1. Шилжүүлэгч гарна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2. Энгийн pullback (1-3 давалгаа)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3. Дотроо ranging/displacement ҮГҮЙ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4. Шууд эргээд entry чиглэлд явна</a:t>
            </a:r>
          </a:p>
          <a:p>
            <a:pPr>
              <a:spcBef>
                <a:spcPts val="600"/>
              </a:spcBef>
              <a:defRPr sz="1400" b="1">
                <a:solidFill>
                  <a:srgbClr val="549BFF"/>
                </a:solidFill>
              </a:defRPr>
            </a:pPr>
            <a:r>
              <a:t>5. Entry!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D700"/>
                </a:solidFill>
              </a:defRPr>
            </a:pPr>
            <a:r>
              <a:t>Онцлог: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Хамгийн энгийн, хурдан загвар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Бүс доторх displacement байхгүй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Шууд V эсвэл W хэлбэрийн PB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888888"/>
                </a:solidFill>
              </a:defRPr>
            </a:pPr>
            <a:r>
              <a:t>candle-butesh.png дээрх зураг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920240"/>
            <a:ext cx="4389120" cy="5760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B86FC"/>
                </a:solidFill>
              </a:defRPr>
            </a:pPr>
            <a:r>
              <a:t>3р ЗАГВАР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700"/>
                </a:solidFill>
              </a:defRPr>
            </a:pPr>
            <a:r>
              <a:t>Complex Pullback (4+ давалгаа)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1089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Бүтэц: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1. Шилжүүлэгч гарна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2. Олон давалгаатай pullback (4+)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3. Масштаб өөрчлөгдөж явна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4. Том → жижиг → том давалгаа</a:t>
            </a:r>
          </a:p>
          <a:p>
            <a:pPr>
              <a:spcBef>
                <a:spcPts val="600"/>
              </a:spcBef>
              <a:defRPr sz="1400" b="1">
                <a:solidFill>
                  <a:srgbClr val="BB86FC"/>
                </a:solidFill>
              </a:defRPr>
            </a:pPr>
            <a:r>
              <a:t>5. Entry!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D700"/>
                </a:solidFill>
              </a:defRPr>
            </a:pPr>
            <a:r>
              <a:t>Онцлог: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Хамгийн удаан, олон давалгаатай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Scale-ээр Fractal давтагдана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Тэвчээр шаардлагатай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888888"/>
                </a:solidFill>
              </a:defRPr>
            </a:pPr>
            <a:r>
              <a:t>candle-butesh3.png дээрх зураг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89981"/>
                </a:solidFill>
              </a:defRPr>
            </a:pPr>
            <a:r>
              <a:t>PB БҮТЭЦ — НАРИЙН ЗАДАРГАА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089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675120" cy="6400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9981"/>
                </a:solidFill>
              </a:defRPr>
            </a:pPr>
            <a:r>
              <a:t>PULLBACK-ИЙН АНАТОМИ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Шилжүүлэгч → PB эхлэл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Шилжүүлэгч = том лаа бүсийг биеэрээ эвдэх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Биеэрээ хаагдсан байх ЁСТОЙ (wick биш)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Хэмжээсийн урт (0-1) богино = шилжүүлэгч биш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700"/>
                </a:solidFill>
              </a:defRPr>
            </a:pPr>
            <a:r>
              <a:t>PB эхлэл таних: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Шилжүүлэгчийн дараа эсрэг чиглэлийн лаа = PB эхэлсэн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PB эхлэхгүй бол 10 bar-н дараа шилжүүлэгч хүчингүй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700"/>
                </a:solidFill>
              </a:defRPr>
            </a:pPr>
            <a:r>
              <a:t>PB дотоод бүтэц: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Давалгаа тоолох — эсрэг чиглэл солих бүрд +1</a:t>
            </a:r>
          </a:p>
          <a:p>
            <a:pPr>
              <a:spcBef>
                <a:spcPts val="600"/>
              </a:spcBef>
              <a:defRPr sz="1400" b="0">
                <a:solidFill>
                  <a:srgbClr val="549BFF"/>
                </a:solidFill>
              </a:defRPr>
            </a:pPr>
            <a:r>
              <a:t>1-3 давалгаа = 2р загвар (энгийн)</a:t>
            </a:r>
          </a:p>
          <a:p>
            <a:pPr>
              <a:spcBef>
                <a:spcPts val="600"/>
              </a:spcBef>
              <a:defRPr sz="1400" b="0">
                <a:solidFill>
                  <a:srgbClr val="BB86FC"/>
                </a:solidFill>
              </a:defRPr>
            </a:pPr>
            <a:r>
              <a:t>4+ давалгаа = 3р загвар (complex)</a:t>
            </a:r>
          </a:p>
          <a:p>
            <a:pPr>
              <a:spcBef>
                <a:spcPts val="600"/>
              </a:spcBef>
              <a:defRPr sz="1400" b="0">
                <a:solidFill>
                  <a:srgbClr val="089981"/>
                </a:solidFill>
              </a:defRPr>
            </a:pPr>
            <a:r>
              <a:t>Дотроо ranging + displacement = 1р загвар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700"/>
                </a:solidFill>
              </a:defRPr>
            </a:pPr>
            <a:r>
              <a:t>PB доторх RANGING шалгах: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5 bar-н range &lt; ATR x 2.5 → ranging эхэлсэн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Ranging + эсрэг displacement = 1р загвар баталгаа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6675120" cy="6400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PB ТӨГСГӨЛ ОЛОХ = TBM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MOM олох (2 боломж):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Боломж 1: Үндсэн Low/High = MOM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Өмнөх impulse-н 61.8-г сэтлэхэд тухайн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impulse-н эхлэл low (bull) / high (bear) = MOM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Боломж 2: Жижиг impulse-н 61.8 = MOM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Сэтлэсэн хөдөлгөөн дотоод жижиг impulse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үүсгэсэн → тэр жижиг imp-н 61.8 = MOM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</a:defRPr>
            </a:pPr>
            <a:r>
              <a:t>Энэ 2-н АЛЬ НЭГ нь MOM болно!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FD700"/>
                </a:solidFill>
              </a:defRPr>
            </a:pPr>
            <a:r>
              <a:t>61.8 Entry Zone: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MOM олсны дараа Fibo 0-1 татна</a:t>
            </a:r>
          </a:p>
          <a:p>
            <a:pPr>
              <a:spcBef>
                <a:spcPts val="600"/>
              </a:spcBef>
              <a:defRPr sz="1400" b="1">
                <a:solidFill>
                  <a:srgbClr val="089981"/>
                </a:solidFill>
              </a:defRPr>
            </a:pPr>
            <a:r>
              <a:t>61.8 = PB-н яг төгсөх цэг = ENTRY ZONE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61.8 - 72% хооронд = хамгийн сайн бүс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23645"/>
                </a:solidFill>
              </a:defRPr>
            </a:pPr>
            <a:r>
              <a:t>Шүүлтүүрүүд: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Эрлийз: MOM ↔ 61.8 зай &gt; ATR x 5 → ХАЯХ</a:t>
            </a:r>
          </a:p>
          <a:p>
            <a:pPr>
              <a:spcBef>
                <a:spcPts val="600"/>
              </a:spcBef>
              <a:defRPr sz="1400" b="0">
                <a:solidFill>
                  <a:srgbClr val="089981"/>
                </a:solidFill>
              </a:defRPr>
            </a:pPr>
            <a:r>
              <a:t>Уялдаа: Олон MOM-н 61.8 давхцах → ★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89981"/>
                </a:solidFill>
              </a:defRPr>
            </a:pPr>
            <a:r>
              <a:t>PB ДАВАЛГААНЫ БҮТЭЦ — НАРИЙН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089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675120" cy="30175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89981"/>
                </a:solidFill>
              </a:defRPr>
            </a:pPr>
            <a:r>
              <a:t>BULL SETUP — PB БҮТЭЦ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Хөдөлгөөний дараалал (дээшээ):</a:t>
            </a:r>
          </a:p>
          <a:p>
            <a:pPr>
              <a:spcBef>
                <a:spcPts val="600"/>
              </a:spcBef>
              <a:defRPr sz="4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089981"/>
                </a:solidFill>
              </a:defRPr>
            </a:pPr>
            <a:r>
              <a:t>[ БҮС ]  →  ▲ ШИЛЖҮҮЛЭГЧ (том ногоон лаа, бүсийг дээш эвднэ)</a:t>
            </a:r>
          </a:p>
          <a:p>
            <a:pPr>
              <a:spcBef>
                <a:spcPts val="600"/>
              </a:spcBef>
              <a:defRPr sz="1300" b="0">
                <a:solidFill>
                  <a:srgbClr val="F23645"/>
                </a:solidFill>
              </a:defRPr>
            </a:pPr>
            <a:r>
              <a:t>           →  ▼ PB эхлэл (улаан лаа гарна)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</a:defRPr>
            </a:pPr>
            <a:r>
              <a:t>           →  ▼▲▼ Давалгаа (1р, 2р, 3р загварын аль нэг)</a:t>
            </a:r>
          </a:p>
          <a:p>
            <a:pPr>
              <a:spcBef>
                <a:spcPts val="600"/>
              </a:spcBef>
              <a:defRPr sz="1300" b="0">
                <a:solidFill>
                  <a:srgbClr val="00D4FF"/>
                </a:solidFill>
              </a:defRPr>
            </a:pPr>
            <a:r>
              <a:t>           →  IDM sweep (өмнөх low-г хамна = Degi)</a:t>
            </a:r>
          </a:p>
          <a:p>
            <a:pPr>
              <a:spcBef>
                <a:spcPts val="600"/>
              </a:spcBef>
              <a:defRPr sz="1300" b="0">
                <a:solidFill>
                  <a:srgbClr val="FF8C00"/>
                </a:solidFill>
              </a:defRPr>
            </a:pPr>
            <a:r>
              <a:t>           →  MOM олдоно (TBM)</a:t>
            </a:r>
          </a:p>
          <a:p>
            <a:pPr>
              <a:spcBef>
                <a:spcPts val="600"/>
              </a:spcBef>
              <a:defRPr sz="1300" b="1">
                <a:solidFill>
                  <a:srgbClr val="089981"/>
                </a:solidFill>
              </a:defRPr>
            </a:pPr>
            <a:r>
              <a:t>           →  61.8 дээр ногоон лаа = ▲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6675120" cy="30175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2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3645"/>
                </a:solidFill>
              </a:defRPr>
            </a:pPr>
            <a:r>
              <a:t>BEAR SETUP — PB БҮТЭЦ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</a:defRPr>
            </a:pPr>
            <a:r>
              <a:t>Хөдөлгөөний дараалал (доошоо):</a:t>
            </a:r>
          </a:p>
          <a:p>
            <a:pPr>
              <a:spcBef>
                <a:spcPts val="600"/>
              </a:spcBef>
              <a:defRPr sz="4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F23645"/>
                </a:solidFill>
              </a:defRPr>
            </a:pPr>
            <a:r>
              <a:t>[ БҮС ]  →  ▼ ШИЛЖҮҮЛЭГЧ (том улаан лаа, бүсийг доош эвднэ)</a:t>
            </a:r>
          </a:p>
          <a:p>
            <a:pPr>
              <a:spcBef>
                <a:spcPts val="600"/>
              </a:spcBef>
              <a:defRPr sz="1300" b="0">
                <a:solidFill>
                  <a:srgbClr val="089981"/>
                </a:solidFill>
              </a:defRPr>
            </a:pPr>
            <a:r>
              <a:t>           →  ▲ PB эхлэл (ногоон лаа гарна)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</a:defRPr>
            </a:pPr>
            <a:r>
              <a:t>           →  ▲▼▲ Давалгаа (1р, 2р, 3р загварын аль нэг)</a:t>
            </a:r>
          </a:p>
          <a:p>
            <a:pPr>
              <a:spcBef>
                <a:spcPts val="600"/>
              </a:spcBef>
              <a:defRPr sz="1300" b="0">
                <a:solidFill>
                  <a:srgbClr val="00D4FF"/>
                </a:solidFill>
              </a:defRPr>
            </a:pPr>
            <a:r>
              <a:t>           →  IDM sweep (өмнөх high-г хамна = Degi)</a:t>
            </a:r>
          </a:p>
          <a:p>
            <a:pPr>
              <a:spcBef>
                <a:spcPts val="600"/>
              </a:spcBef>
              <a:defRPr sz="1300" b="0">
                <a:solidFill>
                  <a:srgbClr val="FF8C00"/>
                </a:solidFill>
              </a:defRPr>
            </a:pPr>
            <a:r>
              <a:t>           →  MOM олдоно (TBM)</a:t>
            </a:r>
          </a:p>
          <a:p>
            <a:pPr>
              <a:spcBef>
                <a:spcPts val="600"/>
              </a:spcBef>
              <a:defRPr sz="1300" b="1">
                <a:solidFill>
                  <a:srgbClr val="F23645"/>
                </a:solidFill>
              </a:defRPr>
            </a:pPr>
            <a:r>
              <a:t>           →  61.8 дээр улаан лаа = ▼ ENTRY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371600"/>
            <a:ext cx="6675120" cy="30175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ШИЛЖҮҮЛЭГЧ ШАЛГАХ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031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089981"/>
                </a:solidFill>
              </a:defRPr>
            </a:pPr>
            <a:r>
              <a:t>  ✓  Биеэрээ хаагдсан байх (wick-ээр биш)</a:t>
            </a:r>
          </a:p>
          <a:p>
            <a:pPr>
              <a:spcBef>
                <a:spcPts val="400"/>
              </a:spcBef>
              <a:defRPr sz="1300">
                <a:solidFill>
                  <a:srgbClr val="089981"/>
                </a:solidFill>
              </a:defRPr>
            </a:pPr>
            <a:r>
              <a:t>  ✓  Хэмжээс (0-1) хангалттай урт байх</a:t>
            </a:r>
          </a:p>
          <a:p>
            <a:pPr>
              <a:spcBef>
                <a:spcPts val="400"/>
              </a:spcBef>
              <a:defRPr sz="1300">
                <a:solidFill>
                  <a:srgbClr val="089981"/>
                </a:solidFill>
              </a:defRPr>
            </a:pPr>
            <a:r>
              <a:t>  ✓  Өмнөх бүсийн range-с том displacement</a:t>
            </a:r>
          </a:p>
          <a:p>
            <a:pPr>
              <a:spcBef>
                <a:spcPts val="400"/>
              </a:spcBef>
              <a:defRPr sz="1300">
                <a:solidFill>
                  <a:srgbClr val="089981"/>
                </a:solidFill>
              </a:defRPr>
            </a:pPr>
            <a:r>
              <a:t>  ✓  Огцом хөдөлгөөн (consolidation-гүй)</a:t>
            </a:r>
          </a:p>
          <a:p>
            <a:pPr>
              <a:spcBef>
                <a:spcPts val="400"/>
              </a:spcBef>
              <a:defRPr sz="1300">
                <a:solidFill>
                  <a:srgbClr val="F23645"/>
                </a:solidFill>
              </a:defRPr>
            </a:pPr>
            <a:r>
              <a:t>  ✗  Удаан хугацаанд огцомгүй = шилжүүлэгч биш</a:t>
            </a:r>
          </a:p>
          <a:p>
            <a:pPr>
              <a:spcBef>
                <a:spcPts val="400"/>
              </a:spcBef>
              <a:defRPr sz="1300">
                <a:solidFill>
                  <a:srgbClr val="F23645"/>
                </a:solidFill>
              </a:defRPr>
            </a:pPr>
            <a:r>
              <a:t>  ✗  1н цэг шалгаж, pullback хэт гүн = буруу таних</a:t>
            </a:r>
          </a:p>
          <a:p>
            <a:pPr>
              <a:spcBef>
                <a:spcPts val="400"/>
              </a:spcBef>
              <a:defRPr sz="1300">
                <a:solidFill>
                  <a:srgbClr val="F23645"/>
                </a:solidFill>
              </a:defRPr>
            </a:pPr>
            <a:r>
              <a:t>  ✗  Өмнөх жижиг pullback-с хүчилж татах = биш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663440"/>
            <a:ext cx="6675120" cy="30175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ЦАГ ХООРОНДЫН ХОЛБОО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9496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Scalp:  1-5min entry → 30min, 1H харах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Day:    5-15min entry → 2H, 4H харах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Swing:  15-30min entry → 5H, Daily харах</a:t>
            </a:r>
          </a:p>
          <a:p>
            <a:pPr>
              <a:spcBef>
                <a:spcPts val="600"/>
              </a:spcBef>
              <a:defRPr sz="8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Том цагийн 2 лаа = Жижиг цагийн шилжүүлэгч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1H дээр 2 ногоон лаа = 15min дээр displacement</a:t>
            </a:r>
          </a:p>
          <a:p>
            <a:pPr>
              <a:spcBef>
                <a:spcPts val="600"/>
              </a:spcBef>
              <a:defRPr sz="1400" b="1">
                <a:solidFill>
                  <a:srgbClr val="00D4FF"/>
                </a:solidFill>
              </a:defRPr>
            </a:pPr>
            <a:r>
              <a:t>→ Энэ бол Degi ↔ Fractal-ийн ХОЛБООС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ДАВХАР 3: TBM — MOM + FIBO 61.8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6675120" cy="6400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MOM ОЛОХ ПРОЦЕСС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Алхам 1: Impulse таних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Swing High → Swing Low (эсвэл эсрэгээр)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Range &gt; ATR x 2 байх ёстой (жижиг импулс биш)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</a:defRPr>
            </a:pPr>
            <a:r>
              <a:t>Алхам 2: 61.8 сэтлэгдэх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Тухайн impulse-н 61.8-г ханш сэтлэх = трэнд эргэлт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Биеэр сэтлэх ёстой (wick биш)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Bearish candle (close &lt; open) байх ёстой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</a:defRPr>
            </a:pPr>
            <a:r>
              <a:t>Алхам 3: MOM тодорхойлох</a:t>
            </a:r>
          </a:p>
          <a:p>
            <a:pPr>
              <a:spcBef>
                <a:spcPts val="600"/>
              </a:spcBef>
              <a:defRPr sz="1400" b="1">
                <a:solidFill>
                  <a:srgbClr val="089981"/>
                </a:solidFill>
              </a:defRPr>
            </a:pPr>
            <a:r>
              <a:t>БОЛОМЖ 1: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</a:defRPr>
            </a:pPr>
            <a:r>
              <a:t>  Тухайн impulse-н High (bear) / Low (bull) = MOM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  → Энэ бол үндсэн low, эсрэг хөдөлгөөн эхлэх цэг</a:t>
            </a:r>
          </a:p>
          <a:p>
            <a:pPr>
              <a:spcBef>
                <a:spcPts val="600"/>
              </a:spcBef>
              <a:defRPr sz="4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549BFF"/>
                </a:solidFill>
              </a:defRPr>
            </a:pPr>
            <a:r>
              <a:t>БОЛОМЖ 2: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</a:defRPr>
            </a:pPr>
            <a:r>
              <a:t>  Жижиг impulse-н 61.8 = MOM</a:t>
            </a:r>
          </a:p>
          <a:p>
            <a:pPr>
              <a:spcBef>
                <a:spcPts val="600"/>
              </a:spcBef>
              <a:defRPr sz="1300" b="0">
                <a:solidFill>
                  <a:srgbClr val="AAAAAA"/>
                </a:solidFill>
              </a:defRPr>
            </a:pPr>
            <a:r>
              <a:t>  → Сэтлэсэн хөдөлгөөн доторх жижиг imp-н 61.8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D700"/>
                </a:solidFill>
              </a:defRPr>
            </a:pPr>
            <a:r>
              <a:t>Алхам 4: Fibo татах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0 = Impulse-н нэг үзүүр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1 = Impulse-н нөгөө үзүүр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MOM = Momentum цэг (улаан шугам)</a:t>
            </a:r>
          </a:p>
          <a:p>
            <a:pPr>
              <a:spcBef>
                <a:spcPts val="600"/>
              </a:spcBef>
              <a:defRPr sz="1400" b="1">
                <a:solidFill>
                  <a:srgbClr val="F23645"/>
                </a:solidFill>
              </a:defRPr>
            </a:pPr>
            <a:r>
              <a:t>61.8 = ENTRY ZONE (улаан зузаан шугам)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66751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9981"/>
                </a:solidFill>
              </a:defRPr>
            </a:pPr>
            <a:r>
              <a:t>61.8 ENTRY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981"/>
                </a:solidFill>
              </a:defRPr>
            </a:pPr>
            <a:r>
              <a:t>Bull Entry (bear fibo-н 61.8 дээр):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Low ≤ 61.8  (61.8-д хүрсэн)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Close &gt; 61.8  (дээш буцсан)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Close &gt; Open  (ногоон лаа)</a:t>
            </a:r>
          </a:p>
          <a:p>
            <a:pPr>
              <a:spcBef>
                <a:spcPts val="600"/>
              </a:spcBef>
              <a:defRPr sz="1600" b="1">
                <a:solidFill>
                  <a:srgbClr val="089981"/>
                </a:solidFill>
              </a:defRPr>
            </a:pPr>
            <a:r>
              <a:t>= ▲ ENTRY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23645"/>
                </a:solidFill>
              </a:defRPr>
            </a:pPr>
            <a:r>
              <a:t>Bear Entry (bull fibo-н 61.8 дээр):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High ≥ 61.8  →  Close &lt; 61.8  →  Close &lt; Open</a:t>
            </a:r>
          </a:p>
          <a:p>
            <a:pPr>
              <a:spcBef>
                <a:spcPts val="600"/>
              </a:spcBef>
              <a:defRPr sz="1600" b="1">
                <a:solidFill>
                  <a:srgbClr val="F23645"/>
                </a:solidFill>
              </a:defRPr>
            </a:pPr>
            <a:r>
              <a:t>= ▼ ENTRY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846320"/>
            <a:ext cx="66751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5029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УЯЛДАА + ЭРЛИЙЗ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5778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981"/>
                </a:solidFill>
              </a:defRPr>
            </a:pPr>
            <a:r>
              <a:t>★ Уялдаа (Confluence):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Олон MOM-ийн 61.8-72% бүс давхцах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= Маш хүчтэй entry zone</a:t>
            </a:r>
          </a:p>
          <a:p>
            <a:pPr>
              <a:spcBef>
                <a:spcPts val="600"/>
              </a:spcBef>
              <a:defRPr sz="1400" b="1">
                <a:solidFill>
                  <a:srgbClr val="089981"/>
                </a:solidFill>
              </a:defRPr>
            </a:pPr>
            <a:r>
              <a:t>= ★ ENTRY (тодоор харагдана)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23645"/>
                </a:solidFill>
              </a:defRPr>
            </a:pPr>
            <a:r>
              <a:t>✗ Эрлийз (Reject):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MOM ↔ 61.8 хоорондох зай &gt; ATR x 5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= Fibo хэт сунасан, итгэх боломжгүй → ХАЯХ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</a:defRPr>
            </a:pPr>
            <a:r>
              <a:t>БҮТЭН ПРОЦЕСС — A.1 ENTRY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HTF ЧИГЛЭЛ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4H/1H дээр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трэнд таних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2024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LIQUIDITY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IDM sweep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хүлээх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0332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89981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9981"/>
                </a:solidFill>
              </a:defRPr>
            </a:pPr>
            <a:r>
              <a:t>БҮС ОЛОХ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Ranging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тодорхойлох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86399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23559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59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89981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9981"/>
                </a:solidFill>
              </a:defRPr>
            </a:pPr>
            <a:r>
              <a:t>ШИЛЖҮҮЛЭГЧ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Том лаа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бүсийг эвдэх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948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0664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89981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9981"/>
                </a:solidFill>
              </a:defRPr>
            </a:pPr>
            <a:r>
              <a:t>PB ЗАГВАР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1р/2р/3р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загвар таних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05256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MOM ОЛОХ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Өмнөх imp-с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MOM олох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83564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97280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61.8 ENTRY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Entry zone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хүлээх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2618720" y="2468880"/>
            <a:ext cx="228600" cy="182880"/>
          </a:xfrm>
          <a:prstGeom prst="rightArrow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755880" y="1645920"/>
            <a:ext cx="16002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55880" y="16916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755880" y="20574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★ ENTRY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55880" y="24688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Уялдаа 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55880" y="27432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Candle = ОР!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114800"/>
            <a:ext cx="1371600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2976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ENTRY CHECKLIST — Арилжаанд орохын өмнөх шалгах жагсаалт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4846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DEGI (HTF Context)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HTF трэнд тодорхой юу?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Liquidity sweep болсон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IDM хамагдсан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HTF choch/BOS баталгаажсан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Entry Grade (A.1 / A / Pot.A.1)?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846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981"/>
                </a:solidFill>
              </a:defRPr>
            </a:pPr>
            <a:r>
              <a:t>FRACTAL (Бүтэц)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Бүс тодорхойлогдсон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Шилжүүлэгч биеэр хаагдсан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PB загвар аль нь вэ? (1р/2р/3р)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Fibo 0-1-2 зөв татсан уу?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Цаг шилжүүлэл зөв үү?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48463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TBM (Entry)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MOM олдсон уу? (Боломж 1/2)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Эрлийз биш үү? (MOM↔61.8 зай)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61.8 zone дээр ирсэн үү?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Уялдаа байна уу? (★)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☐ Entry candle баталгаажсан уу?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</a:defRPr>
            </a:pPr>
            <a:r>
              <a:t>ЛААНЫ БҮТЭЦ — ENTRY БАТАЛГАА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4572000" cy="254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3891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89981"/>
                </a:solidFill>
              </a:defRPr>
            </a:pPr>
            <a:r>
              <a:t>CANDLESTICK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2 лааны шилжилт хэсгийг ажигла: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Төгсгөл → Дараагийн лааны эхлэл</a:t>
            </a:r>
          </a:p>
          <a:p>
            <a:pPr>
              <a:spcBef>
                <a:spcPts val="600"/>
              </a:spcBef>
              <a:defRPr sz="1400" b="0">
                <a:solidFill>
                  <a:srgbClr val="089981"/>
                </a:solidFill>
              </a:defRPr>
            </a:pPr>
            <a:r>
              <a:t>Унаж орж ирвэл → дараагийх ногоон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Өсөлт орж ирвэл → дараагийх улаан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Шилжилтийг Fibo дээр ч харна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43891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54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49BFF"/>
                </a:solidFill>
              </a:defRPr>
            </a:pPr>
            <a:r>
              <a:t>ЛААНЫ ӨР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Ханш тэгш хэмжээгээр хөдөлдөг: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Өмнөх хэмжээгээр дахин давтана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Лааны өндрийг аль нэг тал руу давтах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4H+ дээр харах → шууд бодоод байхгүй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Fibo дээр давхцаад гараад ирдэг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371600"/>
            <a:ext cx="4389120" cy="2926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INSIDE BAR (IB)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1031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Голын candle-н дотор багтсан: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2 хажуу талын H/L эвдэж чадахгүй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3дахь лаа эвдэх тал руу явна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3дахь нь 1ээсээ заавал том байх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IB + Fibo = маш сайн ашиглагдана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66751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KEY LEVEL + LIQUIDITY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Key Level: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Ханш ойлт авсан бүс = дэмжлэг/эсэргүүцэл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61.8 zone = маш сайн key level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3+ удаа ойсон бүс = хүчтэй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Liquidity sweep: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Өмнөх лааны low эвдсэн = шууд эсрэг хөдөлгөөн</a:t>
            </a:r>
          </a:p>
          <a:p>
            <a:pPr>
              <a:spcBef>
                <a:spcPts val="600"/>
              </a:spcBef>
              <a:defRPr sz="1400" b="1">
                <a:solidFill>
                  <a:srgbClr val="FFD700"/>
                </a:solidFill>
              </a:defRPr>
            </a:pPr>
            <a:r>
              <a:t>Wick = liquidity хамалт, Биеэр = orderflow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572000"/>
            <a:ext cx="667512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2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7548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23645"/>
                </a:solidFill>
              </a:defRPr>
            </a:pPr>
            <a:r>
              <a:t>СЭГРЭЛТ + АНХААРУУЛГА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3035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Сэгрэлт: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Орой/ёроол олон удаа эвдрэх = сэгрэлт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Сэтлээд явчхаараа гэж бодох хэрэггүй</a:t>
            </a:r>
          </a:p>
          <a:p>
            <a:pPr>
              <a:spcBef>
                <a:spcPts val="600"/>
              </a:spcBef>
              <a:defRPr sz="1400" b="1">
                <a:solidFill>
                  <a:srgbClr val="F23645"/>
                </a:solidFill>
              </a:defRPr>
            </a:pPr>
            <a:r>
              <a:t>Арилжаа НЭЭХГҮЙ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Range үед: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Range задарсны дараа л арилжаа хий</a:t>
            </a:r>
          </a:p>
          <a:p>
            <a:pPr>
              <a:spcBef>
                <a:spcPts val="600"/>
              </a:spcBef>
              <a:defRPr sz="1400" b="0">
                <a:solidFill>
                  <a:srgbClr val="F23645"/>
                </a:solidFill>
              </a:defRPr>
            </a:pPr>
            <a:r>
              <a:t>Range дотор трэнд эргэлт fibo бүү хэрэглэ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D700"/>
                </a:solidFill>
              </a:defRPr>
            </a:pPr>
            <a:r>
              <a:t>ДҮГНЭЛТ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051560"/>
            <a:ext cx="5486400" cy="254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1097280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НЭГ ПРОЦЕССЫН 3 ZOOM LEVEL</a:t>
            </a:r>
          </a:p>
          <a:p>
            <a:pPr>
              <a:spcBef>
                <a:spcPts val="600"/>
              </a:spcBef>
              <a:defRPr sz="6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00D4FF"/>
                </a:solidFill>
              </a:defRPr>
            </a:pPr>
            <a:r>
              <a:t>DEGI = Яагаад энэ чиглэлд?  (HTF context, liquidity)</a:t>
            </a:r>
          </a:p>
          <a:p>
            <a:pPr>
              <a:spcBef>
                <a:spcPts val="600"/>
              </a:spcBef>
              <a:defRPr sz="1800" b="0">
                <a:solidFill>
                  <a:srgbClr val="089981"/>
                </a:solidFill>
              </a:defRPr>
            </a:pPr>
            <a:r>
              <a:t>FRACTAL = Хаана арилжаалах?  (бүс, шилжүүлэгч, PB бүтэц)</a:t>
            </a:r>
          </a:p>
          <a:p>
            <a:pPr>
              <a:spcBef>
                <a:spcPts val="600"/>
              </a:spcBef>
              <a:defRPr sz="1800" b="0">
                <a:solidFill>
                  <a:srgbClr val="FF8C00"/>
                </a:solidFill>
              </a:defRPr>
            </a:pPr>
            <a:r>
              <a:t>TBM = Хэзээ яг орох?  (MOM → 61.8 → Entry)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6400800" cy="3931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АЛТАН ДҮРМҮҮД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5760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1.  Том цагийн баталгаагүй бол бага цаг луугаа ор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2.  Шилжүүлэгч биеэрээ хаагдсан байх ёстой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3.  61.8 хүрээгүй бол жинхэнэ pullback биш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4.  Эрлийз fibo-г хаях (MOM↔61.8 хэт хол)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5.  Уялдаа = хамгийн итгэлтэй entry (★)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6.  Range үед битгий арилжаалаарай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7.  Trend is your friend — зөвхөн трэнд дагаж ор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8.  Wick = liquidity, Биеэр = orderflow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40480"/>
            <a:ext cx="6400800" cy="3931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89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89981"/>
                </a:solidFill>
              </a:defRPr>
            </a:pPr>
            <a:r>
              <a:t>САНАХ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572000"/>
            <a:ext cx="5760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3 давхар шүүлтүүр давхцвал =</a:t>
            </a:r>
          </a:p>
          <a:p>
            <a:pPr>
              <a:spcBef>
                <a:spcPts val="600"/>
              </a:spcBef>
              <a:defRPr sz="2000" b="1">
                <a:solidFill>
                  <a:srgbClr val="FFD700"/>
                </a:solidFill>
              </a:defRPr>
            </a:pPr>
            <a:r>
              <a:t>ХАМГИЙН ӨНДӨР МАГАДЛАЛТАЙ ENTRY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Setup:</a:t>
            </a:r>
          </a:p>
          <a:p>
            <a:pPr>
              <a:spcBef>
                <a:spcPts val="600"/>
              </a:spcBef>
              <a:defRPr sz="1600" b="0">
                <a:solidFill>
                  <a:srgbClr val="00D4FF"/>
                </a:solidFill>
              </a:defRPr>
            </a:pPr>
            <a:r>
              <a:t>1. Liquidity харна</a:t>
            </a:r>
          </a:p>
          <a:p>
            <a:pPr>
              <a:spcBef>
                <a:spcPts val="600"/>
              </a:spcBef>
              <a:defRPr sz="1600" b="0">
                <a:solidFill>
                  <a:srgbClr val="089981"/>
                </a:solidFill>
              </a:defRPr>
            </a:pPr>
            <a:r>
              <a:t>2. Fibo зөв зурагдсан байх</a:t>
            </a:r>
          </a:p>
          <a:p>
            <a:pPr>
              <a:spcBef>
                <a:spcPts val="600"/>
              </a:spcBef>
              <a:defRPr sz="1600" b="0">
                <a:solidFill>
                  <a:srgbClr val="549BFF"/>
                </a:solidFill>
              </a:defRPr>
            </a:pPr>
            <a:r>
              <a:t>3. Цаг шилжилтээ харах</a:t>
            </a:r>
          </a:p>
          <a:p>
            <a:pPr>
              <a:spcBef>
                <a:spcPts val="600"/>
              </a:spcBef>
              <a:defRPr sz="1600" b="0">
                <a:solidFill>
                  <a:srgbClr val="BB86FC"/>
                </a:solidFill>
              </a:defRPr>
            </a:pPr>
            <a:r>
              <a:t>4. Лааны өр, IB, engulfing хослуулж баталж болно</a:t>
            </a:r>
          </a:p>
          <a:p>
            <a:pPr>
              <a:spcBef>
                <a:spcPts val="600"/>
              </a:spcBef>
              <a:defRPr sz="1000" b="0">
                <a:solidFill>
                  <a:srgbClr val="AAAAAA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089981"/>
                </a:solidFill>
              </a:defRPr>
            </a:pPr>
            <a:r>
              <a:t>Бүгд давхцвал → ENTRY!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